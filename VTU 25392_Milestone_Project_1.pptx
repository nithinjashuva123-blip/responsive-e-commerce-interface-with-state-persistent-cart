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251919" y="5822277"/>
            <a:ext cx="15784162" cy="584775"/>
          </a:xfrm>
          <a:prstGeom prst="rect">
            <a:avLst/>
          </a:prstGeom>
          <a:noFill/>
        </p:spPr>
        <p:txBody>
          <a:bodyPr wrap="square" rtlCol="0">
            <a:spAutoFit/>
          </a:bodyPr>
          <a:lstStyle/>
          <a:p>
            <a:pPr algn="ctr"/>
            <a:r>
              <a:rPr lang="en-IN" sz="3200" b="1" dirty="0">
                <a:solidFill>
                  <a:srgbClr val="0033CC"/>
                </a:solidFill>
              </a:rPr>
              <a:t>Responsive E-Commerce Interface with State-Persistent Cart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99060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T.NITHIN JASHUVA– VTU25392 – Reg.No.23UECS1264</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Dr.M.SUMITHRA</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Assitent</a:t>
            </a:r>
            <a:r>
              <a:rPr lang="en-US" sz="3000" dirty="0">
                <a:latin typeface="Cambria" panose="02040503050406030204" pitchFamily="18" charset="0"/>
                <a:ea typeface="Cambria" panose="02040503050406030204" pitchFamily="18" charset="0"/>
              </a:rPr>
              <a: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1015663"/>
          </a:xfrm>
          <a:prstGeom prst="rect">
            <a:avLst/>
          </a:prstGeom>
          <a:noFill/>
        </p:spPr>
        <p:txBody>
          <a:bodyPr wrap="square" rtlCol="0">
            <a:spAutoFit/>
          </a:bodyPr>
          <a:lstStyle/>
          <a:p>
            <a:r>
              <a:rPr lang="en-US" b="1" dirty="0">
                <a:solidFill>
                  <a:schemeClr val="tx1">
                    <a:lumMod val="95000"/>
                    <a:lumOff val="5000"/>
                  </a:schemeClr>
                </a:solidFill>
                <a:latin typeface="Cambria" panose="02040503050406030204" pitchFamily="18" charset="0"/>
                <a:ea typeface="Cambria" panose="02040503050406030204" pitchFamily="18" charset="0"/>
              </a:rPr>
              <a:t>SDG: </a:t>
            </a:r>
            <a:r>
              <a:rPr lang="en-US" sz="2000" b="1" dirty="0"/>
              <a:t>SDG 8, SDG 9, SDG 10, and SDG 12 by promoting digital commerce, innovation, economic growth, and responsible consumption through an efficient e-commerce platform.</a:t>
            </a:r>
            <a:r>
              <a:rPr lang="en-US" sz="2000" b="1" dirty="0">
                <a:solidFill>
                  <a:schemeClr val="tx1">
                    <a:lumMod val="95000"/>
                    <a:lumOff val="5000"/>
                  </a:schemeClr>
                </a:solidFill>
                <a:latin typeface="Cambria" panose="02040503050406030204" pitchFamily="18" charset="0"/>
                <a:ea typeface="Cambria" panose="02040503050406030204" pitchFamily="18" charset="0"/>
              </a:rPr>
              <a:t> </a:t>
            </a:r>
            <a:r>
              <a:rPr lang="en-IN" sz="2000" b="1" dirty="0">
                <a:solidFill>
                  <a:schemeClr val="tx1">
                    <a:lumMod val="95000"/>
                    <a:lumOff val="5000"/>
                  </a:schemeClr>
                </a:solidFill>
              </a:rPr>
              <a:t> </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5693866"/>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dirty="0"/>
              <a:t>As mobile commerce grows, inconsistent user interfaces and lost shopping cart data remain primary causes of cart abandonment.</a:t>
            </a:r>
          </a:p>
          <a:p>
            <a:pPr marL="457200" indent="-457200" algn="just">
              <a:buFont typeface="Wingdings" panose="05000000000000000000" pitchFamily="2" charset="2"/>
              <a:buChar char="q"/>
            </a:pPr>
            <a:r>
              <a:rPr lang="en-US" sz="2800" dirty="0"/>
              <a:t> This issue costs online retailers billions in lost potential revenue every year. </a:t>
            </a:r>
          </a:p>
          <a:p>
            <a:pPr marL="457200" indent="-457200" algn="just">
              <a:buFont typeface="Wingdings" panose="05000000000000000000" pitchFamily="2" charset="2"/>
              <a:buChar char="q"/>
            </a:pPr>
            <a:r>
              <a:rPr lang="en-US" sz="2800" dirty="0"/>
              <a:t>Creating a seamless, frustration-free shopping journey is critical for modern businesses to retain customers and maximize conversion rates.</a:t>
            </a:r>
          </a:p>
          <a:p>
            <a:pPr marL="457200" indent="-457200" algn="just">
              <a:buFont typeface="Wingdings" panose="05000000000000000000" pitchFamily="2" charset="2"/>
              <a:buChar char="q"/>
            </a:pPr>
            <a:r>
              <a:rPr lang="en-US" sz="2800" dirty="0"/>
              <a:t> This project introduces a highly responsive e-commerce front-end integrated with a state-persistent shopping cart. </a:t>
            </a:r>
          </a:p>
          <a:p>
            <a:pPr marL="457200" indent="-457200" algn="just">
              <a:buFont typeface="Wingdings" panose="05000000000000000000" pitchFamily="2" charset="2"/>
              <a:buChar char="q"/>
            </a:pPr>
            <a:r>
              <a:rPr lang="en-US" sz="2800" dirty="0"/>
              <a:t>The system dynamically adapts to any screen size while utilizing robust state management techniques (like local storage) to save user selections. </a:t>
            </a:r>
          </a:p>
          <a:p>
            <a:pPr marL="457200" indent="-457200" algn="just">
              <a:buFont typeface="Wingdings" panose="05000000000000000000" pitchFamily="2" charset="2"/>
              <a:buChar char="q"/>
            </a:pPr>
            <a:r>
              <a:rPr lang="en-US" sz="2800" dirty="0"/>
              <a:t>This ensures that even if a user refreshes the page, accidentally closes the tab, or returns later, their cart remains perfectly intact and ready for checkout.</a:t>
            </a:r>
          </a:p>
          <a:p>
            <a:pPr marL="457200" indent="-457200" algn="just">
              <a:buFont typeface="Wingdings" panose="05000000000000000000" pitchFamily="2" charset="2"/>
              <a:buChar char="q"/>
            </a:pPr>
            <a:r>
              <a:rPr lang="en-US" sz="2800" dirty="0"/>
              <a:t>The system is built using modern web technologies like HTML, CSS, JavaScript, and MySQL</a:t>
            </a:r>
          </a:p>
          <a:p>
            <a:pPr marL="457200" indent="-457200" algn="just">
              <a:buFont typeface="Wingdings" panose="05000000000000000000" pitchFamily="2" charset="2"/>
              <a:buChar char="q"/>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3046988"/>
          </a:xfrm>
          <a:prstGeom prst="rect">
            <a:avLst/>
          </a:prstGeom>
          <a:noFill/>
        </p:spPr>
        <p:txBody>
          <a:bodyPr wrap="square" rtlCol="0">
            <a:spAutoFit/>
          </a:bodyPr>
          <a:lstStyle/>
          <a:p>
            <a:pPr algn="just"/>
            <a:r>
              <a:rPr lang="en-US" sz="3200" dirty="0"/>
              <a:t>The rapid growth of online shopping has increased the need for efficient and user-friendly e-commerce systems. However, many existing platforms lack a smooth interface and fail to maintain cart data across sessions, leading to poor user experience and potential loss of sales. There is a need to develop a responsive e-commerce interface with a state-persistent cart that ensures seamless product browsing, reliable data storage, and efficient interaction between frontend and backend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5693866"/>
          </a:xfrm>
          <a:prstGeom prst="rect">
            <a:avLst/>
          </a:prstGeom>
          <a:noFill/>
        </p:spPr>
        <p:txBody>
          <a:bodyPr wrap="square" rtlCol="0">
            <a:spAutoFit/>
          </a:bodyPr>
          <a:lstStyle/>
          <a:p>
            <a:pPr marL="514350" indent="-514350" algn="just">
              <a:buFont typeface="Wingdings" panose="05000000000000000000" pitchFamily="2" charset="2"/>
              <a:buChar char="ü"/>
            </a:pPr>
            <a:r>
              <a:rPr lang="en-US" sz="2800" b="1" dirty="0"/>
              <a:t>Develop a fully responsive user interface:</a:t>
            </a:r>
            <a:r>
              <a:rPr lang="en-US" sz="2800" dirty="0"/>
              <a:t> Design an adaptable e-commerce layout that provides an optimal, seamless viewing and interaction experience across all devices (mobile, tablet, and desktop).</a:t>
            </a:r>
          </a:p>
          <a:p>
            <a:pPr marL="514350" indent="-514350" algn="just">
              <a:buFont typeface="Wingdings" panose="05000000000000000000" pitchFamily="2" charset="2"/>
              <a:buChar char="ü"/>
            </a:pPr>
            <a:r>
              <a:rPr lang="en-US" sz="2800" b="1" dirty="0"/>
              <a:t>Reduce cart abandonment:</a:t>
            </a:r>
            <a:r>
              <a:rPr lang="en-US" sz="2800" dirty="0"/>
              <a:t> Create a frictionless and reliable shopping journey that builds user trust and directly minimizes the loss of potential sales due to technical interruptions.</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8279190"/>
          </a:xfrm>
          <a:prstGeom prst="rect">
            <a:avLst/>
          </a:prstGeom>
          <a:noFill/>
        </p:spPr>
        <p:txBody>
          <a:bodyPr wrap="square" rtlCol="0">
            <a:spAutoFit/>
          </a:bodyPr>
          <a:lstStyle/>
          <a:p>
            <a:pPr marL="914400" lvl="1" indent="-457200" algn="just">
              <a:buFont typeface="Wingdings" panose="05000000000000000000" pitchFamily="2" charset="2"/>
              <a:buChar char="v"/>
            </a:pPr>
            <a:r>
              <a:rPr lang="en-US" sz="2800" b="1" dirty="0"/>
              <a:t>Adaptive UI Architecture:</a:t>
            </a:r>
            <a:r>
              <a:rPr lang="en-US" sz="2800" dirty="0"/>
              <a:t> Development of a modern, responsive web front-end that dynamically adjusts its layout and components to provide an optimal viewing experience on desktops, tablets, and mobile devices.</a:t>
            </a:r>
          </a:p>
          <a:p>
            <a:pPr marL="914400" lvl="1" indent="-457200" algn="just">
              <a:buFont typeface="Wingdings" panose="05000000000000000000" pitchFamily="2" charset="2"/>
              <a:buChar char="v"/>
            </a:pPr>
            <a:r>
              <a:rPr lang="en-US" sz="2800" b="1" dirty="0"/>
              <a:t>Integrated State Management:</a:t>
            </a:r>
            <a:r>
              <a:rPr lang="en-US" sz="2800" dirty="0"/>
              <a:t> Implementation of robust state management (using tools like Redux or Context API) combined with client-side storage (like </a:t>
            </a:r>
            <a:r>
              <a:rPr lang="en-US" sz="2800" dirty="0" err="1"/>
              <a:t>LocalStorage</a:t>
            </a:r>
            <a:r>
              <a:rPr lang="en-US" sz="2800" dirty="0"/>
              <a:t>).</a:t>
            </a:r>
          </a:p>
          <a:p>
            <a:pPr marL="914400" lvl="1" indent="-457200" algn="just">
              <a:buFont typeface="Wingdings" panose="05000000000000000000" pitchFamily="2" charset="2"/>
              <a:buChar char="v"/>
            </a:pPr>
            <a:r>
              <a:rPr lang="en-US" sz="2800" b="1" dirty="0"/>
              <a:t>Real-Time Cart Synchronization:</a:t>
            </a:r>
            <a:r>
              <a:rPr lang="en-US" sz="2800" dirty="0"/>
              <a:t> The system automatically and instantly saves cart additions, modifications, or deletions directly to local storage, solving the issue of data loss during accidental browser closures or page refreshes.</a:t>
            </a:r>
          </a:p>
          <a:p>
            <a:pPr marL="914400" lvl="1" indent="-457200" algn="just">
              <a:buFont typeface="Wingdings" panose="05000000000000000000" pitchFamily="2" charset="2"/>
              <a:buChar char="v"/>
            </a:pPr>
            <a:r>
              <a:rPr lang="en-US" sz="2800" b="1" dirty="0"/>
              <a:t>Cross-Session Persistence:</a:t>
            </a:r>
            <a:r>
              <a:rPr lang="en-US" sz="2800" dirty="0"/>
              <a:t> Unlike existing systems that clear temporary session data, this solution remembers the user's cart items even if they leave the site and return days later, without requiring them to log in first.</a:t>
            </a:r>
          </a:p>
          <a:p>
            <a:pPr marL="914400" lvl="1" indent="-457200" algn="just">
              <a:buFont typeface="Wingdings" panose="05000000000000000000" pitchFamily="2" charset="2"/>
              <a:buChar char="v"/>
            </a:pPr>
            <a:r>
              <a:rPr lang="en-US" sz="2800" b="1" dirty="0"/>
              <a:t>Frictionless User Experience:</a:t>
            </a:r>
            <a:r>
              <a:rPr lang="en-US" sz="2800" dirty="0"/>
              <a:t> By eliminating layout breaks on mobile and preserving user data, the system directly resolves the primary friction points that cause users to abandon their shopping journeys.</a:t>
            </a:r>
          </a:p>
          <a:p>
            <a:pPr marL="914400" lvl="1" indent="-457200" algn="just">
              <a:buFont typeface="Wingdings" panose="05000000000000000000" pitchFamily="2" charset="2"/>
              <a:buChar char="v"/>
            </a:pPr>
            <a:r>
              <a:rPr lang="en-US" sz="2800" b="1" dirty="0"/>
              <a:t>Reduced Server Load:</a:t>
            </a:r>
            <a:r>
              <a:rPr lang="en-US" sz="2800" dirty="0"/>
              <a:t> By managing the cart state efficiently on the client side until the final checkout phase, the system decreases unnecessary server requests compared to traditional database-heavy cart systems.</a:t>
            </a:r>
          </a:p>
          <a:p>
            <a:pPr marL="914400" lvl="1" indent="-457200" algn="just">
              <a:buFont typeface="Wingdings" panose="05000000000000000000" pitchFamily="2" charset="2"/>
              <a:buChar char="v"/>
            </a:pPr>
            <a:r>
              <a:rPr lang="en-US" sz="2800" b="1" dirty="0"/>
              <a:t>Increased Conversion Potential:</a:t>
            </a:r>
            <a:r>
              <a:rPr lang="en-US" sz="2800" dirty="0"/>
              <a:t> The primary advantage is a significant reduction in cart abandonment rates, leading directly to higher customer retention and increased sales revenue.</a:t>
            </a:r>
          </a:p>
        </p:txBody>
      </p:sp>
      <p:sp>
        <p:nvSpPr>
          <p:cNvPr id="2" name="Rectangle 1">
            <a:extLst>
              <a:ext uri="{FF2B5EF4-FFF2-40B4-BE49-F238E27FC236}">
                <a16:creationId xmlns:a16="http://schemas.microsoft.com/office/drawing/2014/main" id="{B7996A16-801A-3A2D-8982-57D5AC720928}"/>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Integrated State Management:</a:t>
            </a:r>
            <a:r>
              <a:rPr kumimoji="0" lang="en-US" altLang="en-US" sz="1800" b="0" i="0" u="none" strike="noStrike" cap="none" normalizeH="0" baseline="0">
                <a:ln>
                  <a:noFill/>
                </a:ln>
                <a:solidFill>
                  <a:schemeClr val="tx1"/>
                </a:solidFill>
                <a:effectLst/>
                <a:latin typeface="Arial" panose="020B0604020202020204" pitchFamily="34" charset="0"/>
              </a:rPr>
              <a:t> Implementation of robust state management (using tools like Redux or Context API) combined with client-side storage (like LocalStorage).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430000" y="-10367741"/>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9423380" y="1638300"/>
            <a:ext cx="7868745" cy="8586966"/>
          </a:xfrm>
          <a:prstGeom prst="rect">
            <a:avLst/>
          </a:prstGeom>
          <a:noFill/>
        </p:spPr>
        <p:txBody>
          <a:bodyPr wrap="square" rtlCol="0">
            <a:spAutoFit/>
          </a:bodyPr>
          <a:lstStyle/>
          <a:p>
            <a:pPr marL="457200" indent="-457200" algn="just">
              <a:buFont typeface="Courier New" panose="02070309020205020404" pitchFamily="49" charset="0"/>
              <a:buChar char="o"/>
            </a:pPr>
            <a:r>
              <a:rPr lang="en-US" sz="2400" b="1" dirty="0"/>
              <a:t>Input:</a:t>
            </a:r>
            <a:r>
              <a:rPr lang="en-US" sz="2400" dirty="0"/>
              <a:t> User interactions on the e-commerce storefront. This includes clicking "Add to Cart," modifying item quantities, selecting product variants (like size or color), and the viewport dimensions of the user's specific device (mobile, tablet, or desktop).</a:t>
            </a:r>
          </a:p>
          <a:p>
            <a:pPr marL="457200" indent="-457200" algn="just">
              <a:buFont typeface="Courier New" panose="02070309020205020404" pitchFamily="49" charset="0"/>
              <a:buChar char="o"/>
            </a:pPr>
            <a:r>
              <a:rPr lang="en-US" sz="2400" b="1" dirty="0"/>
              <a:t>Processing:</a:t>
            </a:r>
            <a:r>
              <a:rPr lang="en-US" sz="2400" dirty="0"/>
              <a:t> The front-end application (e.g., built with React) intercepts these inputs. It handles the business logic by recalculating order subtotals, updating the global application state, and simultaneously adjusting the DOM to ensure the layout responds seamlessly to the current screen size.</a:t>
            </a:r>
          </a:p>
          <a:p>
            <a:pPr marL="457200" indent="-457200" algn="just">
              <a:buFont typeface="Courier New" panose="02070309020205020404" pitchFamily="49" charset="0"/>
              <a:buChar char="o"/>
            </a:pPr>
            <a:r>
              <a:rPr lang="en-US" sz="2400" b="1" dirty="0"/>
              <a:t>Database:</a:t>
            </a:r>
            <a:r>
              <a:rPr lang="en-US" sz="2400" dirty="0"/>
              <a:t> For immediate, session-proof persistence, the cart data is serialized and stored directly in the browser's </a:t>
            </a:r>
            <a:r>
              <a:rPr lang="en-US" sz="2400" b="1" dirty="0"/>
              <a:t>client-side storage (</a:t>
            </a:r>
            <a:r>
              <a:rPr lang="en-US" sz="2400" b="1" dirty="0" err="1"/>
              <a:t>LocalStorage</a:t>
            </a:r>
            <a:r>
              <a:rPr lang="en-US" sz="2400" b="1" dirty="0"/>
              <a:t>)</a:t>
            </a:r>
            <a:r>
              <a:rPr lang="en-US" sz="2400" dirty="0"/>
              <a:t>. For long-term storage and cross-device synchronization, this data is later transmitted via a REST API to a </a:t>
            </a:r>
            <a:r>
              <a:rPr lang="en-US" sz="2400" b="1" dirty="0"/>
              <a:t>backend database</a:t>
            </a:r>
            <a:r>
              <a:rPr lang="en-US" sz="2400" dirty="0"/>
              <a:t> (such as MongoDB or PostgreSQL) when the user authenticates or begins the checkout process.</a:t>
            </a:r>
          </a:p>
          <a:p>
            <a:pPr marL="457200" indent="-457200" algn="just">
              <a:buFont typeface="Courier New" panose="02070309020205020404" pitchFamily="49" charset="0"/>
              <a:buChar char="o"/>
            </a:pPr>
            <a:r>
              <a:rPr lang="en-US" sz="2400" b="1" dirty="0"/>
              <a:t>Output:</a:t>
            </a:r>
            <a:r>
              <a:rPr lang="en-US" sz="2400" dirty="0"/>
              <a:t> A real-time, seamlessly updated user interface. The system outputs a visually optimized layout tailored to the user's device, alongside a highly reliable shopping cart that retains its contents entirely intact, even if the user refreshes the page or reopens the browser hours later.</a:t>
            </a:r>
          </a:p>
        </p:txBody>
      </p:sp>
      <p:pic>
        <p:nvPicPr>
          <p:cNvPr id="2" name="Picture 1">
            <a:extLst>
              <a:ext uri="{FF2B5EF4-FFF2-40B4-BE49-F238E27FC236}">
                <a16:creationId xmlns:a16="http://schemas.microsoft.com/office/drawing/2014/main" id="{A856577D-AA6F-1388-76F1-B16C66AB01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3637" y="1378976"/>
            <a:ext cx="7733851" cy="62532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C93CE85-3B78-2CD5-86DE-F9368A2CCB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4700" y="1028700"/>
            <a:ext cx="11658600" cy="8179521"/>
          </a:xfrm>
          <a:prstGeom prst="rect">
            <a:avLst/>
          </a:prstGeom>
        </p:spPr>
      </p:pic>
      <p:sp>
        <p:nvSpPr>
          <p:cNvPr id="2" name="TextBox 1">
            <a:extLst>
              <a:ext uri="{FF2B5EF4-FFF2-40B4-BE49-F238E27FC236}">
                <a16:creationId xmlns:a16="http://schemas.microsoft.com/office/drawing/2014/main" id="{3F8881A2-954E-DEB5-F786-EC8214A7EB6C}"/>
              </a:ext>
            </a:extLst>
          </p:cNvPr>
          <p:cNvSpPr txBox="1"/>
          <p:nvPr/>
        </p:nvSpPr>
        <p:spPr>
          <a:xfrm>
            <a:off x="5562600" y="8935134"/>
            <a:ext cx="6400800" cy="646331"/>
          </a:xfrm>
          <a:prstGeom prst="rect">
            <a:avLst/>
          </a:prstGeom>
          <a:noFill/>
        </p:spPr>
        <p:txBody>
          <a:bodyPr wrap="square" rtlCol="0">
            <a:spAutoFit/>
          </a:bodyPr>
          <a:lstStyle/>
          <a:p>
            <a:pPr algn="r"/>
            <a:r>
              <a:rPr lang="en-US" sz="3600" b="1" dirty="0">
                <a:solidFill>
                  <a:srgbClr val="0033CC"/>
                </a:solidFill>
              </a:rPr>
              <a:t>work flow for ecommerce cart</a:t>
            </a:r>
            <a:endParaRPr lang="en-IN" sz="3600" b="1" dirty="0">
              <a:solidFill>
                <a:srgbClr val="0033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2677656"/>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b="1" dirty="0"/>
              <a:t>Frontend:</a:t>
            </a:r>
            <a:r>
              <a:rPr lang="en-US" sz="2800" dirty="0"/>
              <a:t> React.js (for building the UI), Tailwind CSS or Bootstrap (for responsiveness), and Redux or React Context API (for state management).</a:t>
            </a:r>
          </a:p>
          <a:p>
            <a:pPr marL="457200" indent="-457200" algn="just">
              <a:buFont typeface="Wingdings" panose="05000000000000000000" pitchFamily="2" charset="2"/>
              <a:buChar char="q"/>
            </a:pPr>
            <a:r>
              <a:rPr lang="en-US" sz="2800" b="1" dirty="0"/>
              <a:t>Backend:</a:t>
            </a:r>
            <a:r>
              <a:rPr lang="en-US" sz="2800" dirty="0"/>
              <a:t> Node.js with Express.js (to handle API requests and business logic).</a:t>
            </a:r>
          </a:p>
          <a:p>
            <a:pPr marL="457200" indent="-457200" algn="just">
              <a:buFont typeface="Wingdings" panose="05000000000000000000" pitchFamily="2" charset="2"/>
              <a:buChar char="q"/>
            </a:pPr>
            <a:r>
              <a:rPr lang="en-IN" sz="2800" b="1" dirty="0"/>
              <a:t>Database:</a:t>
            </a:r>
            <a:r>
              <a:rPr lang="en-IN" sz="2800" dirty="0"/>
              <a:t> MongoDB (a NoSQL database excellent for managing product </a:t>
            </a:r>
            <a:r>
              <a:rPr lang="en-IN" sz="2800" dirty="0" err="1"/>
              <a:t>catalogs</a:t>
            </a:r>
            <a:r>
              <a:rPr lang="en-IN" sz="2800" dirty="0"/>
              <a:t> and user data) and </a:t>
            </a:r>
            <a:r>
              <a:rPr lang="en-IN" sz="2800" dirty="0" err="1"/>
              <a:t>LocalStorage</a:t>
            </a:r>
            <a:r>
              <a:rPr lang="en-IN" sz="2800" dirty="0"/>
              <a:t> (for client-side cart persistence).</a:t>
            </a:r>
          </a:p>
          <a:p>
            <a:pPr marL="457200" indent="-457200" algn="just">
              <a:buFont typeface="Wingdings" panose="05000000000000000000" pitchFamily="2" charset="2"/>
              <a:buChar char="q"/>
            </a:pPr>
            <a:r>
              <a:rPr lang="en-IN" sz="2800" b="1" dirty="0"/>
              <a:t>Tools:</a:t>
            </a:r>
            <a:r>
              <a:rPr lang="en-IN" sz="2800" dirty="0"/>
              <a:t> Visual Studio Code (IDE), Postman (API testing), and Vite or Webpack (bundler).</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3539430"/>
          </a:xfrm>
          <a:prstGeom prst="rect">
            <a:avLst/>
          </a:prstGeom>
          <a:noFill/>
        </p:spPr>
        <p:txBody>
          <a:bodyPr wrap="square" rtlCol="0">
            <a:spAutoFit/>
          </a:bodyPr>
          <a:lstStyle/>
          <a:p>
            <a:pPr algn="just"/>
            <a:r>
              <a:rPr lang="en-US" sz="2800" b="1" dirty="0"/>
              <a:t>Module 1: User Interface &amp; Navigation</a:t>
            </a:r>
            <a:r>
              <a:rPr lang="en-US" sz="2800" dirty="0"/>
              <a:t> Handles the dynamic adaptation of the layout to ensure an optimal and responsive viewing experience across all devices.</a:t>
            </a:r>
          </a:p>
          <a:p>
            <a:pPr algn="just"/>
            <a:r>
              <a:rPr lang="en-US" sz="2800" b="1" dirty="0"/>
              <a:t>Module 2: Product Catalog Management</a:t>
            </a:r>
            <a:r>
              <a:rPr lang="en-US" sz="2800" dirty="0"/>
              <a:t> Fetches and renders product data dynamically, allowing users to efficiently search, filter, and browse available items.</a:t>
            </a:r>
          </a:p>
          <a:p>
            <a:pPr algn="just"/>
            <a:r>
              <a:rPr lang="en-US" sz="2800" b="1" dirty="0"/>
              <a:t>Module 3: Cart &amp; State Persistence</a:t>
            </a:r>
            <a:r>
              <a:rPr lang="en-US" sz="2800" dirty="0"/>
              <a:t> Manages the core cart logic and automatically synchronizes user selections with client-side storage to prevent data loss across sessions.</a:t>
            </a:r>
          </a:p>
          <a:p>
            <a:pPr algn="just"/>
            <a:r>
              <a:rPr lang="en-US" sz="2800" b="1" dirty="0"/>
              <a:t>Module 4: Checkout &amp; Validation</a:t>
            </a:r>
            <a:r>
              <a:rPr lang="en-US" sz="2800" dirty="0"/>
              <a:t> Processes the persistent cart data, calculates final order totals, and prepares the accurate details for secure backend transaction processing.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294397" y="3413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9620D5B-C151-ED5E-3BF8-9127077A4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0" y="1096095"/>
            <a:ext cx="10994424" cy="5840788"/>
          </a:xfrm>
          <a:prstGeom prst="rect">
            <a:avLst/>
          </a:prstGeom>
        </p:spPr>
      </p:pic>
      <p:sp>
        <p:nvSpPr>
          <p:cNvPr id="48" name="TextBox 47">
            <a:extLst>
              <a:ext uri="{FF2B5EF4-FFF2-40B4-BE49-F238E27FC236}">
                <a16:creationId xmlns:a16="http://schemas.microsoft.com/office/drawing/2014/main" id="{0379EBAF-2AD2-8519-5466-234540BFC88E}"/>
              </a:ext>
            </a:extLst>
          </p:cNvPr>
          <p:cNvSpPr txBox="1"/>
          <p:nvPr/>
        </p:nvSpPr>
        <p:spPr>
          <a:xfrm>
            <a:off x="8382000" y="7118165"/>
            <a:ext cx="2774670" cy="707886"/>
          </a:xfrm>
          <a:prstGeom prst="rect">
            <a:avLst/>
          </a:prstGeom>
          <a:noFill/>
        </p:spPr>
        <p:txBody>
          <a:bodyPr wrap="none" rtlCol="0">
            <a:spAutoFit/>
          </a:bodyPr>
          <a:lstStyle/>
          <a:p>
            <a:pPr algn="just"/>
            <a:r>
              <a:rPr lang="en-IN" sz="4000" b="1" dirty="0">
                <a:solidFill>
                  <a:srgbClr val="0033CC"/>
                </a:solidFill>
              </a:rPr>
              <a:t>LOGIN PAGE</a:t>
            </a:r>
          </a:p>
        </p:txBody>
      </p:sp>
      <p:sp>
        <p:nvSpPr>
          <p:cNvPr id="49" name="TextBox 48">
            <a:extLst>
              <a:ext uri="{FF2B5EF4-FFF2-40B4-BE49-F238E27FC236}">
                <a16:creationId xmlns:a16="http://schemas.microsoft.com/office/drawing/2014/main" id="{C6CC5626-82DF-C6C9-EC34-F77BA5EE1AE0}"/>
              </a:ext>
            </a:extLst>
          </p:cNvPr>
          <p:cNvSpPr txBox="1"/>
          <p:nvPr/>
        </p:nvSpPr>
        <p:spPr>
          <a:xfrm>
            <a:off x="4572000" y="8420100"/>
            <a:ext cx="10287000" cy="1815882"/>
          </a:xfrm>
          <a:prstGeom prst="rect">
            <a:avLst/>
          </a:prstGeom>
          <a:noFill/>
        </p:spPr>
        <p:txBody>
          <a:bodyPr wrap="square" rtlCol="0">
            <a:spAutoFit/>
          </a:bodyPr>
          <a:lstStyle/>
          <a:p>
            <a:pPr algn="just"/>
            <a:r>
              <a:rPr lang="en-US" sz="2800" dirty="0"/>
              <a:t>The login page provides a secure, responsive authentication gateway for users to safely access their personalized accounts. It features a clean, user-friendly form where customers enter their credentials to seamlessly retrieve their saved shopping data.</a:t>
            </a:r>
            <a:endParaRPr lang="en-IN" sz="2800" dirty="0"/>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04422C4-ED0B-7E55-C59D-EDDF96737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7299" y="1440411"/>
            <a:ext cx="8915400" cy="4736306"/>
          </a:xfrm>
          <a:prstGeom prst="rect">
            <a:avLst/>
          </a:prstGeom>
        </p:spPr>
      </p:pic>
      <p:sp>
        <p:nvSpPr>
          <p:cNvPr id="4" name="TextBox 3">
            <a:extLst>
              <a:ext uri="{FF2B5EF4-FFF2-40B4-BE49-F238E27FC236}">
                <a16:creationId xmlns:a16="http://schemas.microsoft.com/office/drawing/2014/main" id="{AFE16765-4740-930E-8DA6-AC21238DD016}"/>
              </a:ext>
            </a:extLst>
          </p:cNvPr>
          <p:cNvSpPr txBox="1"/>
          <p:nvPr/>
        </p:nvSpPr>
        <p:spPr>
          <a:xfrm>
            <a:off x="7525764" y="6258166"/>
            <a:ext cx="5257800" cy="923330"/>
          </a:xfrm>
          <a:prstGeom prst="rect">
            <a:avLst/>
          </a:prstGeom>
          <a:noFill/>
        </p:spPr>
        <p:txBody>
          <a:bodyPr wrap="square" rtlCol="0">
            <a:spAutoFit/>
          </a:bodyPr>
          <a:lstStyle/>
          <a:p>
            <a:pPr algn="just"/>
            <a:r>
              <a:rPr lang="en-IN" sz="5400" b="1" dirty="0">
                <a:solidFill>
                  <a:srgbClr val="0033CC"/>
                </a:solidFill>
              </a:rPr>
              <a:t>Home page</a:t>
            </a:r>
          </a:p>
        </p:txBody>
      </p:sp>
      <p:sp>
        <p:nvSpPr>
          <p:cNvPr id="6" name="TextBox 5">
            <a:extLst>
              <a:ext uri="{FF2B5EF4-FFF2-40B4-BE49-F238E27FC236}">
                <a16:creationId xmlns:a16="http://schemas.microsoft.com/office/drawing/2014/main" id="{AA5D3488-F4D8-C774-41D9-A60D87BE8BA6}"/>
              </a:ext>
            </a:extLst>
          </p:cNvPr>
          <p:cNvSpPr txBox="1"/>
          <p:nvPr/>
        </p:nvSpPr>
        <p:spPr>
          <a:xfrm>
            <a:off x="4267200" y="7793962"/>
            <a:ext cx="9982200" cy="2369880"/>
          </a:xfrm>
          <a:prstGeom prst="rect">
            <a:avLst/>
          </a:prstGeom>
          <a:noFill/>
        </p:spPr>
        <p:txBody>
          <a:bodyPr wrap="square" rtlCol="0">
            <a:spAutoFit/>
          </a:bodyPr>
          <a:lstStyle/>
          <a:p>
            <a:endParaRPr lang="en-US" b="1" dirty="0"/>
          </a:p>
          <a:p>
            <a:pPr algn="just"/>
            <a:r>
              <a:rPr lang="en-US" sz="2800" dirty="0"/>
              <a:t>This screenshot displays the main product catalog, allowing users to browse featured items like backpacks and smartwatches. It also highlights the integrated shopping cart sidebar, which is currently empty and ready to dynamically update as selections are made.</a:t>
            </a:r>
          </a:p>
          <a:p>
            <a:endParaRPr lang="en-IN" dirty="0"/>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FBCA274-80C8-8596-8FE0-53FDCB8304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00" y="1601406"/>
            <a:ext cx="7924800" cy="4210050"/>
          </a:xfrm>
          <a:prstGeom prst="rect">
            <a:avLst/>
          </a:prstGeom>
        </p:spPr>
      </p:pic>
      <p:sp>
        <p:nvSpPr>
          <p:cNvPr id="6" name="TextBox 5">
            <a:extLst>
              <a:ext uri="{FF2B5EF4-FFF2-40B4-BE49-F238E27FC236}">
                <a16:creationId xmlns:a16="http://schemas.microsoft.com/office/drawing/2014/main" id="{16AB8501-A93C-4B15-7648-F7B1B0BC2280}"/>
              </a:ext>
            </a:extLst>
          </p:cNvPr>
          <p:cNvSpPr txBox="1"/>
          <p:nvPr/>
        </p:nvSpPr>
        <p:spPr>
          <a:xfrm>
            <a:off x="7696200" y="6249233"/>
            <a:ext cx="4343400" cy="923330"/>
          </a:xfrm>
          <a:prstGeom prst="rect">
            <a:avLst/>
          </a:prstGeom>
          <a:noFill/>
        </p:spPr>
        <p:txBody>
          <a:bodyPr wrap="square" rtlCol="0">
            <a:spAutoFit/>
          </a:bodyPr>
          <a:lstStyle/>
          <a:p>
            <a:r>
              <a:rPr lang="en-IN" sz="5400" b="1" dirty="0">
                <a:solidFill>
                  <a:srgbClr val="0033CC"/>
                </a:solidFill>
              </a:rPr>
              <a:t>Order placed</a:t>
            </a:r>
          </a:p>
        </p:txBody>
      </p:sp>
      <p:sp>
        <p:nvSpPr>
          <p:cNvPr id="38" name="TextBox 37">
            <a:extLst>
              <a:ext uri="{FF2B5EF4-FFF2-40B4-BE49-F238E27FC236}">
                <a16:creationId xmlns:a16="http://schemas.microsoft.com/office/drawing/2014/main" id="{DB646FCD-77EE-6BED-1C1F-481103C3CABC}"/>
              </a:ext>
            </a:extLst>
          </p:cNvPr>
          <p:cNvSpPr txBox="1"/>
          <p:nvPr/>
        </p:nvSpPr>
        <p:spPr>
          <a:xfrm>
            <a:off x="4914900" y="7243835"/>
            <a:ext cx="9906000" cy="2246769"/>
          </a:xfrm>
          <a:prstGeom prst="rect">
            <a:avLst/>
          </a:prstGeom>
          <a:noFill/>
        </p:spPr>
        <p:txBody>
          <a:bodyPr wrap="square" rtlCol="0">
            <a:spAutoFit/>
          </a:bodyPr>
          <a:lstStyle/>
          <a:p>
            <a:pPr algn="just"/>
            <a:r>
              <a:rPr lang="en-US" sz="2800" dirty="0"/>
              <a:t>This screenshot showcases the populated shopping cart with selected items and the final subtotal ready for checkout. It highlights a central success popup confirming that the order has been successfully placed, completing the user's purchasing journey.</a:t>
            </a:r>
            <a:endParaRPr lang="en-IN" sz="2800" dirty="0"/>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4CDE42-DBFB-C418-65B8-56A3852AD0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2176" y="1202757"/>
            <a:ext cx="10304749" cy="5474398"/>
          </a:xfrm>
          <a:prstGeom prst="rect">
            <a:avLst/>
          </a:prstGeom>
        </p:spPr>
      </p:pic>
      <p:sp>
        <p:nvSpPr>
          <p:cNvPr id="4" name="TextBox 3">
            <a:extLst>
              <a:ext uri="{FF2B5EF4-FFF2-40B4-BE49-F238E27FC236}">
                <a16:creationId xmlns:a16="http://schemas.microsoft.com/office/drawing/2014/main" id="{83DE05AC-8C8E-BD09-0F2F-21F02EF8A44D}"/>
              </a:ext>
            </a:extLst>
          </p:cNvPr>
          <p:cNvSpPr txBox="1"/>
          <p:nvPr/>
        </p:nvSpPr>
        <p:spPr>
          <a:xfrm>
            <a:off x="7184572" y="6863437"/>
            <a:ext cx="6371649" cy="923330"/>
          </a:xfrm>
          <a:prstGeom prst="rect">
            <a:avLst/>
          </a:prstGeom>
          <a:noFill/>
        </p:spPr>
        <p:txBody>
          <a:bodyPr wrap="square" rtlCol="0">
            <a:spAutoFit/>
          </a:bodyPr>
          <a:lstStyle/>
          <a:p>
            <a:pPr algn="just"/>
            <a:r>
              <a:rPr lang="en-IN" sz="5400" b="1" dirty="0">
                <a:solidFill>
                  <a:srgbClr val="0033CC"/>
                </a:solidFill>
              </a:rPr>
              <a:t>order confirmation</a:t>
            </a:r>
          </a:p>
        </p:txBody>
      </p:sp>
      <p:sp>
        <p:nvSpPr>
          <p:cNvPr id="5" name="TextBox 4">
            <a:extLst>
              <a:ext uri="{FF2B5EF4-FFF2-40B4-BE49-F238E27FC236}">
                <a16:creationId xmlns:a16="http://schemas.microsoft.com/office/drawing/2014/main" id="{2E259842-886C-4C78-F76E-97E324B56D41}"/>
              </a:ext>
            </a:extLst>
          </p:cNvPr>
          <p:cNvSpPr txBox="1"/>
          <p:nvPr/>
        </p:nvSpPr>
        <p:spPr>
          <a:xfrm>
            <a:off x="4260984" y="7760846"/>
            <a:ext cx="10134600" cy="1815882"/>
          </a:xfrm>
          <a:prstGeom prst="rect">
            <a:avLst/>
          </a:prstGeom>
          <a:noFill/>
        </p:spPr>
        <p:txBody>
          <a:bodyPr wrap="square" rtlCol="0">
            <a:spAutoFit/>
          </a:bodyPr>
          <a:lstStyle/>
          <a:p>
            <a:pPr algn="just"/>
            <a:r>
              <a:rPr lang="en-US" sz="2800" dirty="0"/>
              <a:t>This screenshot demonstrates the final order confirmation stage, featuring an "Order Placed!" success popup overlaid directly on the user's shopping cart. It visually verifies that the persistent cart data was successfully processed and the transaction is complete.</a:t>
            </a:r>
            <a:endParaRPr lang="en-IN" sz="2800" dirty="0"/>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71CB906-0210-0A30-8F45-1A70827E7EE6}"/>
              </a:ext>
            </a:extLst>
          </p:cNvPr>
          <p:cNvSpPr txBox="1"/>
          <p:nvPr/>
        </p:nvSpPr>
        <p:spPr>
          <a:xfrm>
            <a:off x="2043686" y="2342899"/>
            <a:ext cx="10515600" cy="2862322"/>
          </a:xfrm>
          <a:prstGeom prst="rect">
            <a:avLst/>
          </a:prstGeom>
          <a:noFill/>
        </p:spPr>
        <p:txBody>
          <a:bodyPr wrap="square" rtlCol="0">
            <a:spAutoFit/>
          </a:bodyPr>
          <a:lstStyle/>
          <a:p>
            <a:r>
              <a:rPr lang="en-US" dirty="0"/>
              <a:t> </a:t>
            </a:r>
            <a:r>
              <a:rPr lang="en-US" sz="3600" b="1" dirty="0">
                <a:solidFill>
                  <a:srgbClr val="0033CC"/>
                </a:solidFill>
              </a:rPr>
              <a:t>ADVANTAGES</a:t>
            </a:r>
          </a:p>
          <a:p>
            <a:pPr marL="285750" indent="-285750" algn="just">
              <a:buFont typeface="Wingdings" panose="05000000000000000000" pitchFamily="2" charset="2"/>
              <a:buChar char="Ø"/>
            </a:pPr>
            <a:r>
              <a:rPr lang="en-US" sz="2400" dirty="0"/>
              <a:t>Significantly reduces cart abandonment rates by securely preserving user selections across sessions and accidental page reloads.</a:t>
            </a:r>
          </a:p>
          <a:p>
            <a:pPr marL="285750" indent="-285750" algn="just">
              <a:buFont typeface="Wingdings" panose="05000000000000000000" pitchFamily="2" charset="2"/>
              <a:buChar char="Ø"/>
            </a:pPr>
            <a:r>
              <a:rPr lang="en-US" sz="2400" dirty="0"/>
              <a:t>Delivers a seamless, frictionless shopping experience that dynamically adapts to mobile, tablet, and desktop screens.</a:t>
            </a:r>
          </a:p>
          <a:p>
            <a:pPr marL="285750" indent="-285750" algn="just">
              <a:buFont typeface="Wingdings" panose="05000000000000000000" pitchFamily="2" charset="2"/>
              <a:buChar char="Ø"/>
            </a:pPr>
            <a:r>
              <a:rPr lang="en-US" sz="2400" dirty="0"/>
              <a:t>Decreases unnecessary backend server requests by efficiently managing temporary shopping data entirely on the client side.</a:t>
            </a:r>
            <a:endParaRPr lang="en-IN" sz="2400" dirty="0"/>
          </a:p>
        </p:txBody>
      </p:sp>
      <p:sp>
        <p:nvSpPr>
          <p:cNvPr id="36" name="TextBox 35">
            <a:extLst>
              <a:ext uri="{FF2B5EF4-FFF2-40B4-BE49-F238E27FC236}">
                <a16:creationId xmlns:a16="http://schemas.microsoft.com/office/drawing/2014/main" id="{F0611307-4B81-6C7A-DA19-0828961FED7E}"/>
              </a:ext>
            </a:extLst>
          </p:cNvPr>
          <p:cNvSpPr txBox="1"/>
          <p:nvPr/>
        </p:nvSpPr>
        <p:spPr>
          <a:xfrm>
            <a:off x="2209800" y="5991453"/>
            <a:ext cx="10744200" cy="2862322"/>
          </a:xfrm>
          <a:prstGeom prst="rect">
            <a:avLst/>
          </a:prstGeom>
          <a:noFill/>
        </p:spPr>
        <p:txBody>
          <a:bodyPr wrap="square" rtlCol="0">
            <a:spAutoFit/>
          </a:bodyPr>
          <a:lstStyle/>
          <a:p>
            <a:pPr algn="just"/>
            <a:r>
              <a:rPr lang="en-US" sz="3600" b="1" dirty="0">
                <a:solidFill>
                  <a:srgbClr val="0033CC"/>
                </a:solidFill>
              </a:rPr>
              <a:t>LIMITATIONS</a:t>
            </a:r>
          </a:p>
          <a:p>
            <a:pPr marL="285750" indent="-285750" algn="just">
              <a:buFont typeface="Wingdings" panose="05000000000000000000" pitchFamily="2" charset="2"/>
              <a:buChar char="Ø"/>
            </a:pPr>
            <a:r>
              <a:rPr lang="en-US" sz="2400" dirty="0"/>
              <a:t>Client-side storage is device-specific, meaning a cart started on a mobile phone will not automatically sync to a desktop without user authentication.</a:t>
            </a:r>
          </a:p>
          <a:p>
            <a:pPr marL="285750" indent="-285750" algn="just">
              <a:buFont typeface="Wingdings" panose="05000000000000000000" pitchFamily="2" charset="2"/>
              <a:buChar char="Ø"/>
            </a:pPr>
            <a:r>
              <a:rPr lang="en-US" sz="2400" dirty="0"/>
              <a:t>If a customer explicitly clears their browser cache or local website data, their un-saved shopping cart contents will be lost.</a:t>
            </a:r>
          </a:p>
          <a:p>
            <a:pPr marL="285750" indent="-285750" algn="just">
              <a:buFont typeface="Wingdings" panose="05000000000000000000" pitchFamily="2" charset="2"/>
              <a:buChar char="Ø"/>
            </a:pPr>
            <a:r>
              <a:rPr lang="en-US" sz="2400" dirty="0"/>
              <a:t>Relying heavily on front-end local storage can expose temporary data to potential cross-site scripting (XSS) vulnerabilities if inputs are not properly sanitized.</a:t>
            </a:r>
            <a:endParaRPr lang="en-IN" sz="24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TotalTime>
  <Words>1506</Words>
  <Application>Microsoft Office PowerPoint</Application>
  <PresentationFormat>Custom</PresentationFormat>
  <Paragraphs>198</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Wingdings</vt:lpstr>
      <vt:lpstr>Courier New</vt:lpstr>
      <vt:lpstr>Gotham Bold Italics</vt:lpstr>
      <vt:lpstr>Bookman Old Style</vt:lpstr>
      <vt:lpstr>Arial</vt:lpstr>
      <vt:lpstr>Calibri</vt:lpstr>
      <vt:lpstr>Times New Roman</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nithin jashuva</cp:lastModifiedBy>
  <cp:revision>13</cp:revision>
  <dcterms:created xsi:type="dcterms:W3CDTF">2006-08-16T00:00:00Z</dcterms:created>
  <dcterms:modified xsi:type="dcterms:W3CDTF">2026-03-25T04:17:56Z</dcterms:modified>
  <dc:identifier>DAHCaYqJ9OU</dc:identifier>
</cp:coreProperties>
</file>